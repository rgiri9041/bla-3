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>
        <p:scale>
          <a:sx n="83" d="100"/>
          <a:sy n="83" d="100"/>
        </p:scale>
        <p:origin x="6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D452-8D86-9D6D-CD7B-E9A8F1DA7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39095-170D-F145-27F7-CA25767C1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DA5EC-A6EA-1291-9E05-61C35C45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422-7FA5-1541-6E04-8924CDE6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FF2B-754A-10C4-479B-98BB1BCD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9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88A0-B95F-879C-C003-D0EB397A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BF09-6F11-739F-2EB7-6C6E764BC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B6F3-CC59-E2ED-A9A9-524779BE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1068-3A8A-846B-5B2F-8D7B06AF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94726-A90D-A075-37E0-871073CB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AEDD-3A1A-4A33-8B99-1DD4000E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98A65-EB52-1576-6B4E-FFD8A7D4F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98C54-CAF2-13C0-58E1-ED04B7A7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A44C0-EF79-E169-EB3E-05B868A0F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8A8FF-79DC-7D96-7146-35097779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8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9730-4347-4D24-2D00-E08D0B1C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9ABD4-591D-AFAA-E08B-530589E3D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DC99B-233B-3458-B300-C78A65A90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86097-E8E0-F717-8B7C-77445E22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A1CFB-7CA2-0ED2-D109-23CE1D20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A8FFC-C125-975F-A24A-A25FB7EA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0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EC2F-28FF-B2ED-876E-D26CC848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D0590-A455-403B-E79F-8DC718FB1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85BA2-D207-2D05-FE39-2929B9706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05461-75B3-1918-05DD-F289D3E32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11C88-1957-544E-8E0D-66951B224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DF8EA-98F4-4A97-61CA-95DCB360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679810-03FA-6D5B-0ECD-94D708D2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CF113-2B3F-3C15-BDA5-9F29EEA8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5D439-6935-E1A9-EA80-13EF4495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59CF0-8882-A1F5-23A8-BFCE305F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B3F8F-5F86-087E-7D44-33FEC414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08996-01EE-4ED8-CFC3-B06C838E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8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3C670-8AAE-D039-48B2-CCF7F68A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DFF746-D866-B93A-AF66-A0254545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10683-9EBB-AEA4-770A-0DF35E53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3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EE26-4F4F-1AFC-33CF-F534C3B7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56C2-7CE4-834A-DE06-62324255F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8D5CB-DB57-C6E6-3AF6-04975B657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D0F9B-5A78-ED29-A154-F464C674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B09F6-53A0-0FE4-0418-F4205F74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43E16-7FCC-9C9E-C347-2C3CCEFD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5842-9D45-CE38-16AC-6518262E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CBCC7-E3CA-48AB-5D8F-01D9AF00EB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E607A-F84F-E6C0-1BF4-EAD463F69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5EB53-D7FB-3F71-AEAF-B5501E09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F2714-9D2B-33F0-5BE9-06152280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4DD4C-C8F0-0125-7E76-88BA9AFE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97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3D44-A4F3-AEA8-7984-33AF8E21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91126-51D9-3160-78CA-B505AEBD5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84133-CDCF-A2DD-2C71-A5B684960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705B3-E4A8-63A0-DB4A-45FFE517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E39D3-4445-2DA0-58C8-8E5028A4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73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F40D10-3A7C-4F94-BC01-B39413D16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A51D1-6847-592B-5A98-A695B8614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7CC70-BD53-C19D-F0F0-359FA390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15B1C-830A-FEDE-77DD-F7B66FF9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2084-F261-9C2C-D1A1-9D04ADA4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56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5931C-A92B-B286-041F-D2553C93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DC64A-A8ED-62A1-3FF9-CE4DC75EF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21571-608D-40B7-A375-A1F6FA01D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A6947-944C-4BD3-A647-91D0D0F09E8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826A8-CA84-B3A9-A0E7-39B0C6492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C019-1EA2-8295-2829-4A3B79752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3A7E5-F942-455F-B79B-91C80F4D0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4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urple-petaled-flower-and-thank-you-card-2072169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62223-9C0E-7F93-C4A5-0C7B946B1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9600"/>
              <a:t>Amazon DynamoDB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58717-F50C-9FC8-A84D-3596325E1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>
            <a:normAutofit/>
          </a:bodyPr>
          <a:lstStyle/>
          <a:p>
            <a:pPr algn="r"/>
            <a:r>
              <a:rPr lang="en-US"/>
              <a:t>GTech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2FEDA-F7C3-65E9-A84F-2B08E58A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-1"/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8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F5F5A-920A-C7D7-2E09-31E6C934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22877-52C6-CFC5-6D72-E4C6D5FF5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 dirty="0"/>
              <a:t> Introduction to Amazon DynamoDB</a:t>
            </a:r>
          </a:p>
          <a:p>
            <a:r>
              <a:rPr lang="en-US" sz="2600" dirty="0"/>
              <a:t>What is Amazon DynamoDB?</a:t>
            </a:r>
          </a:p>
          <a:p>
            <a:r>
              <a:rPr lang="en-US" sz="2600" dirty="0"/>
              <a:t>Understanding Tables, Items, and Attributes</a:t>
            </a:r>
          </a:p>
          <a:p>
            <a:r>
              <a:rPr lang="en-US" sz="2600" dirty="0"/>
              <a:t>Primary Key: Partition Keys and Sort Keys</a:t>
            </a:r>
          </a:p>
          <a:p>
            <a:r>
              <a:rPr lang="en-US" sz="2600" dirty="0"/>
              <a:t>How Applications Read and Write Data</a:t>
            </a:r>
          </a:p>
          <a:p>
            <a:r>
              <a:rPr lang="en-US" sz="2600" dirty="0"/>
              <a:t>Capacity, Performance and Scalability</a:t>
            </a:r>
          </a:p>
          <a:p>
            <a:r>
              <a:rPr lang="en-US" sz="2600" dirty="0"/>
              <a:t>Secondary Indexes: GSI and LSI</a:t>
            </a:r>
          </a:p>
          <a:p>
            <a:r>
              <a:rPr lang="en-US" sz="2600" dirty="0"/>
              <a:t>How DynamoDB Support Generative AI Application</a:t>
            </a:r>
          </a:p>
          <a:p>
            <a:r>
              <a:rPr lang="en-US" sz="2600" dirty="0"/>
              <a:t>DynamoDB Vector Indexes and Similarity Search</a:t>
            </a:r>
          </a:p>
          <a:p>
            <a:r>
              <a:rPr lang="en-US" sz="2600" dirty="0"/>
              <a:t>Summary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3475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F81AF-1503-5E0C-CA94-5EE8BDFC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Introduction to Amazon DynamoDB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BF125-0840-9945-5385-2D3AD76D1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Fully managed NoSQL database service from AWS</a:t>
            </a:r>
          </a:p>
          <a:p>
            <a:r>
              <a:rPr lang="en-US" sz="2000"/>
              <a:t>Stores and retrieves data with low latency</a:t>
            </a:r>
          </a:p>
          <a:p>
            <a:r>
              <a:rPr lang="en-US" sz="2000"/>
              <a:t>Supports key-value and document data models</a:t>
            </a:r>
          </a:p>
          <a:p>
            <a:r>
              <a:rPr lang="en-US" sz="2000"/>
              <a:t>AWS manages the underlying database infrastructure</a:t>
            </a:r>
          </a:p>
          <a:p>
            <a:r>
              <a:rPr lang="en-US" sz="2000"/>
              <a:t>Scales to support changing application workloads.</a:t>
            </a:r>
          </a:p>
          <a:p>
            <a:r>
              <a:rPr lang="en-US" sz="2000"/>
              <a:t>Used in web apps, mobile apps, chatbots, and AI agents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6236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37578-ECC7-707E-094D-B3433755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What is Amazon DynamoDB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F919D-6536-9F46-5910-9BAE17FB2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A fully managed, serverless NoSQL database</a:t>
            </a:r>
          </a:p>
          <a:p>
            <a:r>
              <a:rPr lang="en-US" sz="2000"/>
              <a:t>Stores data as items and attributes</a:t>
            </a:r>
          </a:p>
          <a:p>
            <a:r>
              <a:rPr lang="en-US" sz="2000"/>
              <a:t>Does not require direct server management</a:t>
            </a:r>
          </a:p>
          <a:p>
            <a:r>
              <a:rPr lang="en-US" sz="2000"/>
              <a:t>Supports flexible data structure</a:t>
            </a:r>
          </a:p>
          <a:p>
            <a:r>
              <a:rPr lang="en-US" sz="2000"/>
              <a:t>Provides features for availability and durability</a:t>
            </a:r>
          </a:p>
          <a:p>
            <a:r>
              <a:rPr lang="en-US" sz="2000"/>
              <a:t>Useful for sessions, profiles, shopping carts and AI memory</a:t>
            </a:r>
          </a:p>
        </p:txBody>
      </p:sp>
    </p:spTree>
    <p:extLst>
      <p:ext uri="{BB962C8B-B14F-4D97-AF65-F5344CB8AC3E}">
        <p14:creationId xmlns:p14="http://schemas.microsoft.com/office/powerpoint/2010/main" val="90167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67A8A9-9998-5D3D-8956-E159F7B4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Tables, Items, and Attributes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74AB2-CC25-B8F2-86D2-4044B1F44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Table: A collection of related data</a:t>
            </a:r>
          </a:p>
          <a:p>
            <a:r>
              <a:rPr lang="en-US" sz="2000"/>
              <a:t>Item: One individual record in a table</a:t>
            </a:r>
          </a:p>
          <a:p>
            <a:r>
              <a:rPr lang="en-US" sz="2000"/>
              <a:t>Attribute: A piece of information about an item</a:t>
            </a:r>
          </a:p>
          <a:p>
            <a:r>
              <a:rPr lang="en-US" sz="2000"/>
              <a:t>Every item must contain the required primary-key attributes</a:t>
            </a:r>
          </a:p>
          <a:p>
            <a:r>
              <a:rPr lang="en-US" sz="2000"/>
              <a:t>Other attributes can vary between items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3D2D1-DB06-DC14-B51B-373E82F02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266257"/>
            <a:ext cx="5150277" cy="21502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4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FE8BB-D4D5-92FD-2AF8-51C8552E4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Primary Keys: Partition Key and Sort Key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A3F1-339B-47C0-A81A-C64470E1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/>
              <a:t>A primary key uniquely identifies and item</a:t>
            </a:r>
          </a:p>
          <a:p>
            <a:r>
              <a:rPr lang="en-US" sz="1700"/>
              <a:t>Partition Key: Support data distribution and item lookup</a:t>
            </a:r>
          </a:p>
          <a:p>
            <a:r>
              <a:rPr lang="en-US" sz="1700"/>
              <a:t>A simple primary key uses only a partition key</a:t>
            </a:r>
          </a:p>
          <a:p>
            <a:r>
              <a:rPr lang="en-US" sz="1700"/>
              <a:t>A composite primary key uses a partition key</a:t>
            </a:r>
          </a:p>
          <a:p>
            <a:r>
              <a:rPr lang="en-US" sz="1700"/>
              <a:t>A composite primary key uses a partition key and sort key</a:t>
            </a:r>
          </a:p>
          <a:p>
            <a:r>
              <a:rPr lang="en-US" sz="1700"/>
              <a:t>Sort keys help organize related items</a:t>
            </a:r>
          </a:p>
          <a:p>
            <a:r>
              <a:rPr lang="en-US" sz="1700"/>
              <a:t>Choose keys based on how the application retrieves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FAB03-9DB8-D97B-CDC0-364B80BB2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491581"/>
            <a:ext cx="5150277" cy="169959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73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57AC9-4308-4F50-FAB5-98959151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Reading and Writing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A4A0-AD0F-4306-6A5B-DAB92AFE8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Applications connect through AWS APIs and SDKs</a:t>
            </a:r>
          </a:p>
          <a:p>
            <a:r>
              <a:rPr lang="en-US" sz="2000"/>
              <a:t>PutItem:  creates or replace an item</a:t>
            </a:r>
          </a:p>
          <a:p>
            <a:r>
              <a:rPr lang="en-US" sz="2000"/>
              <a:t>GetItem: Retrieves an item using its complete primary key</a:t>
            </a:r>
          </a:p>
          <a:p>
            <a:r>
              <a:rPr lang="en-US" sz="2000"/>
              <a:t>UpdateItem: Updates item attributes or creates an item if needed</a:t>
            </a:r>
          </a:p>
          <a:p>
            <a:r>
              <a:rPr lang="en-US" sz="2000"/>
              <a:t>DeleteItem: Removes an item</a:t>
            </a:r>
          </a:p>
          <a:p>
            <a:r>
              <a:rPr lang="en-US" sz="2000"/>
              <a:t>Query finds items by partition key</a:t>
            </a:r>
          </a:p>
        </p:txBody>
      </p:sp>
    </p:spTree>
    <p:extLst>
      <p:ext uri="{BB962C8B-B14F-4D97-AF65-F5344CB8AC3E}">
        <p14:creationId xmlns:p14="http://schemas.microsoft.com/office/powerpoint/2010/main" val="3220376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6A837-C1FE-29FF-5D28-B779BE63D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Capacity, Performance, and Scalability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DE82-3086-9C93-733D-6E03156C2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DynamoDB offers on-demand and provisioned capacity modes</a:t>
            </a:r>
          </a:p>
          <a:p>
            <a:r>
              <a:rPr lang="en-US" sz="2000"/>
              <a:t>On-demand: Pay based on request usage</a:t>
            </a:r>
          </a:p>
          <a:p>
            <a:r>
              <a:rPr lang="en-US" sz="2000"/>
              <a:t>Provisioned: specify expected read and write capacity</a:t>
            </a:r>
          </a:p>
          <a:p>
            <a:r>
              <a:rPr lang="en-US" sz="2000"/>
              <a:t>Auto scaling can adjust provisioned capacity</a:t>
            </a:r>
          </a:p>
          <a:p>
            <a:r>
              <a:rPr lang="en-US" sz="2000"/>
              <a:t>RCU and WCU describe read and write capacity</a:t>
            </a:r>
          </a:p>
          <a:p>
            <a:r>
              <a:rPr lang="en-US" sz="2000"/>
              <a:t>Good key design and monitoring help manage performance</a:t>
            </a:r>
          </a:p>
        </p:txBody>
      </p:sp>
    </p:spTree>
    <p:extLst>
      <p:ext uri="{BB962C8B-B14F-4D97-AF65-F5344CB8AC3E}">
        <p14:creationId xmlns:p14="http://schemas.microsoft.com/office/powerpoint/2010/main" val="2215243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E29FA-0DC3-6B8C-B67B-ABA0F9549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Secondary Indexes: GSI and LSI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A816-CF26-6630-3C51-ED2FB41E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Secondary indexes provide additional ways to query data</a:t>
            </a:r>
          </a:p>
          <a:p>
            <a:r>
              <a:rPr lang="en-US" sz="2000"/>
              <a:t>GSI: Can use a different partition key and optional sort key</a:t>
            </a:r>
          </a:p>
          <a:p>
            <a:r>
              <a:rPr lang="en-US" sz="2000"/>
              <a:t>LSI: Uses the same partition key but a different sort key</a:t>
            </a:r>
          </a:p>
          <a:p>
            <a:r>
              <a:rPr lang="en-US" sz="2000"/>
              <a:t>Indexes support additional query patterns.</a:t>
            </a:r>
          </a:p>
          <a:p>
            <a:r>
              <a:rPr lang="en-US" sz="2000"/>
              <a:t>Indexes require additional storage and may add cost</a:t>
            </a:r>
          </a:p>
          <a:p>
            <a:r>
              <a:rPr lang="en-US" sz="2000"/>
              <a:t>Create indexes based on the application’s actual needs.</a:t>
            </a:r>
          </a:p>
        </p:txBody>
      </p:sp>
    </p:spTree>
    <p:extLst>
      <p:ext uri="{BB962C8B-B14F-4D97-AF65-F5344CB8AC3E}">
        <p14:creationId xmlns:p14="http://schemas.microsoft.com/office/powerpoint/2010/main" val="38667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90523-368C-1F67-5B42-A084E2270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Important DynamoDB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A1F1-D40C-F004-9797-48092E3AE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sz="2000"/>
              <a:t>DynamoDB Streams: Captures changes to table items</a:t>
            </a:r>
          </a:p>
          <a:p>
            <a:r>
              <a:rPr lang="en-US" sz="2000"/>
              <a:t>Time to Live (TTL): Expires eligible items automatically</a:t>
            </a:r>
          </a:p>
          <a:p>
            <a:r>
              <a:rPr lang="en-US" sz="2000"/>
              <a:t>Global Tables: Replicate data across AWS Regions</a:t>
            </a:r>
          </a:p>
          <a:p>
            <a:r>
              <a:rPr lang="en-US" sz="2000"/>
              <a:t>Point-in-time recovery: Helps restore data to an earlier point</a:t>
            </a:r>
          </a:p>
          <a:p>
            <a:r>
              <a:rPr lang="en-US" sz="2000"/>
              <a:t>Encryption at rest helps protect stored data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6610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58F54-100C-F914-4E16-AB1C100CB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100"/>
              <a:t>DynamoDB in Generative AI Applications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2B1D-1DE8-F5CC-749B-BD1DD75C7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Stores chatbot conversation history and session details</a:t>
            </a:r>
          </a:p>
          <a:p>
            <a:r>
              <a:rPr lang="en-US" sz="1800"/>
              <a:t>Can store summaries for AI agent memory</a:t>
            </a:r>
          </a:p>
          <a:p>
            <a:r>
              <a:rPr lang="en-US" sz="1800"/>
              <a:t>Saves application state and workflow progress</a:t>
            </a:r>
          </a:p>
          <a:p>
            <a:r>
              <a:rPr lang="en-US" sz="1800"/>
              <a:t>Stores feedback about AI-generated responses</a:t>
            </a:r>
          </a:p>
          <a:p>
            <a:r>
              <a:rPr lang="en-US" sz="1800"/>
              <a:t>Integrates with services such as Amazon Bedrock and AWS Lambda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014BF-ED52-18AA-06E7-F1B7707D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473" y="625683"/>
            <a:ext cx="6399109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92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A2256-F73C-DD76-BD91-A3AA9D2E8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Vector Indexes and Similarity Search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FC23-8AB3-4114-89F3-B38E79B4F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500"/>
              <a:t>Embedding: A numerical representation of information</a:t>
            </a:r>
          </a:p>
          <a:p>
            <a:r>
              <a:rPr lang="en-US" sz="1500"/>
              <a:t>Similar meanings may produce nearby vectors</a:t>
            </a:r>
          </a:p>
          <a:p>
            <a:r>
              <a:rPr lang="en-US" sz="1500"/>
              <a:t>Vector indexes support searches for similar information</a:t>
            </a:r>
          </a:p>
          <a:p>
            <a:r>
              <a:rPr lang="en-US" sz="1500"/>
              <a:t>DynamoDB  vector search can retrieve relevant items</a:t>
            </a:r>
          </a:p>
          <a:p>
            <a:r>
              <a:rPr lang="en-US" sz="1500"/>
              <a:t>Distance measures can include cosine and dot product</a:t>
            </a:r>
          </a:p>
          <a:p>
            <a:r>
              <a:rPr lang="en-US" sz="1500"/>
              <a:t>Vector retrieval can support semantic search and RAG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C1C3F-F86A-2293-9C52-BED48E0EE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24" y="625683"/>
            <a:ext cx="5624807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83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777E-B9DE-0045-3C5D-7FC722A2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E9BB4-BC41-C210-AB8F-1C2A470F0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DynamoDB is a fully managed NoSQL database service</a:t>
            </a:r>
          </a:p>
          <a:p>
            <a:r>
              <a:rPr lang="en-US" dirty="0"/>
              <a:t>Tables contain items, and items contain attributes</a:t>
            </a:r>
          </a:p>
          <a:p>
            <a:r>
              <a:rPr lang="en-US" dirty="0"/>
              <a:t>Primary-keys design influences data access</a:t>
            </a:r>
          </a:p>
          <a:p>
            <a:r>
              <a:rPr lang="en-US" dirty="0"/>
              <a:t>Choose capacity modes based on workload needs</a:t>
            </a:r>
          </a:p>
          <a:p>
            <a:r>
              <a:rPr lang="en-US" dirty="0"/>
              <a:t>Use indexes and additional features when appropriate</a:t>
            </a:r>
          </a:p>
          <a:p>
            <a:r>
              <a:rPr lang="en-US" dirty="0"/>
              <a:t>DynamoDB can support AI memory and vector-based retrieval</a:t>
            </a:r>
          </a:p>
        </p:txBody>
      </p:sp>
    </p:spTree>
    <p:extLst>
      <p:ext uri="{BB962C8B-B14F-4D97-AF65-F5344CB8AC3E}">
        <p14:creationId xmlns:p14="http://schemas.microsoft.com/office/powerpoint/2010/main" val="1257209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DE32C4-5EE5-75E3-640A-421E9930D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-2" b="15775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81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603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Amazon DynamoDB</vt:lpstr>
      <vt:lpstr>Content</vt:lpstr>
      <vt:lpstr>Introduction to Amazon DynamoDB</vt:lpstr>
      <vt:lpstr>What is Amazon DynamoDB</vt:lpstr>
      <vt:lpstr>Tables, Items, and Attributes</vt:lpstr>
      <vt:lpstr>Primary Keys: Partition Key and Sort Key</vt:lpstr>
      <vt:lpstr>Reading and Writing Data</vt:lpstr>
      <vt:lpstr>Capacity, Performance, and Scalability</vt:lpstr>
      <vt:lpstr>Secondary Indexes: GSI and LSI</vt:lpstr>
      <vt:lpstr>Important DynamoDB Features</vt:lpstr>
      <vt:lpstr>DynamoDB in Generative AI Applications</vt:lpstr>
      <vt:lpstr>Vector Indexes and Similarity Search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Giri</dc:creator>
  <cp:lastModifiedBy>Raj Kumar Giri</cp:lastModifiedBy>
  <cp:revision>3</cp:revision>
  <dcterms:created xsi:type="dcterms:W3CDTF">2026-10-11T21:40:19Z</dcterms:created>
  <dcterms:modified xsi:type="dcterms:W3CDTF">2026-10-13T21:31:55Z</dcterms:modified>
</cp:coreProperties>
</file>