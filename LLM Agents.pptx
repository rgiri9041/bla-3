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4660"/>
  </p:normalViewPr>
  <p:slideViewPr>
    <p:cSldViewPr snapToGrid="0">
      <p:cViewPr>
        <p:scale>
          <a:sx n="47" d="100"/>
          <a:sy n="47" d="100"/>
        </p:scale>
        <p:origin x="1181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AD713-8368-BFFB-B43A-64AFA4894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7CFB96-85A2-4FC1-A46A-199F61C46F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04D36-00C6-6600-AC8D-E9CAF5603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552-0226-4D7F-8159-5B0CFE66EAA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2B772-A763-59A6-9A1C-2A9FE89B2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A13D8-5068-79F2-E84D-645376651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0BB65-A8DD-4E25-9E8A-B182DADF3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42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B8DC0-3120-7843-2FDA-FCB673FB2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A07E2-AB2D-AA93-EA69-BB356DE6E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54ECC-CB6A-1956-8108-420BCFBF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552-0226-4D7F-8159-5B0CFE66EAA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AEB2F-E4B3-083C-2461-F4E42C1C7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EBD64-636C-EBEE-DD75-7EF777FE9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0BB65-A8DD-4E25-9E8A-B182DADF3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89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408EA-8BFA-9593-053A-73FD89479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3507A-7C35-E11A-D9C6-E05909B33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521C7-C696-9D51-D4A6-A4AC8AB24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552-0226-4D7F-8159-5B0CFE66EAA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0085A-E645-EA29-2614-F10DBE58F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DAF84-E3F4-18C5-02C3-408105B2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0BB65-A8DD-4E25-9E8A-B182DADF3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61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50265-F1E5-5ED0-617A-FE1BED713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638A9-FEBC-BC40-834C-7BEA514AA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D8B65-BB39-F911-1BFE-9A6453463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227F6-BA82-BE7B-68EA-5EBE4CDEF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552-0226-4D7F-8159-5B0CFE66EAA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A0F66-8429-E461-C1B0-369980582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AC01B-7534-4C25-F4B9-B486EE96E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0BB65-A8DD-4E25-9E8A-B182DADF3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48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0778B-5651-FC54-6672-B805F1C2F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89116-2460-A9D3-8C38-4E9C910AE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65539-A027-AC22-3D66-04AB2729A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84EABE-4357-CECA-38DE-2A0A877697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3D06D5-F26E-093F-B3D9-9F119C3DB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853574-3894-EAB6-A3AB-B14B6013E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552-0226-4D7F-8159-5B0CFE66EAA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16C3E4-2668-D5D7-1079-78DADF606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D64B4E-F1A9-1F4D-691C-03C939931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0BB65-A8DD-4E25-9E8A-B182DADF3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53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5BA11-F61F-B99F-62F5-5CF916426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A1B82-BC9C-6082-77DB-53238EE62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552-0226-4D7F-8159-5B0CFE66EAA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30C9B3-2533-41CB-81CA-C36A6883D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A2E611-1D6B-14E3-8F22-D7C1D4433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0BB65-A8DD-4E25-9E8A-B182DADF3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70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4A3B84-98D9-E456-DAD5-3CB5A537A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552-0226-4D7F-8159-5B0CFE66EAA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6A0F5C-8D09-1C25-C168-194E5D8EB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CE873-835B-ED3E-2544-84812A694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0BB65-A8DD-4E25-9E8A-B182DADF3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30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D2CB9-0430-212B-919B-377FA7C10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FCC74-011A-846C-8990-34D46AE27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D385F-65D0-F6AA-D659-0A36260D1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783C7-76DE-FBE9-E4B0-26E144CA4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552-0226-4D7F-8159-5B0CFE66EAA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C5C5C-3BCB-3B28-8543-87236A460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0A4F84-4E9E-D3CD-BBAD-40135647E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0BB65-A8DD-4E25-9E8A-B182DADF3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28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18F16-B8C6-AC23-6729-D1C27508A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5DE91-800A-FBC7-4D6F-8B969B7A62D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C7E3F-DD3E-6504-EEF8-5283708EB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F73DB-C01A-5D54-99BB-39956DBD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552-0226-4D7F-8159-5B0CFE66EAA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20AB86-D0F0-EC25-81D9-FB39156F1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7948B-FACA-CA25-DD05-9B6CC4265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0BB65-A8DD-4E25-9E8A-B182DADF3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466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B393C-21FC-39AB-DB27-4E9E425A7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E98871-B5D2-9539-E169-A7DB25B2A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70783-713D-D2F6-168A-9822C75B1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552-0226-4D7F-8159-5B0CFE66EAA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4D778-F8F0-4CC3-315F-2DDE90EB1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11FF5-6071-A5E3-99A2-DAFCE7BE0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0BB65-A8DD-4E25-9E8A-B182DADF3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793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3063F7-90C4-5DD7-EEDB-E6BD2DDCFA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3FB9AB-ECF6-9926-7B28-5A8B04BAC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5FEA2-6686-6594-1EF2-ADA5D68C2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552-0226-4D7F-8159-5B0CFE66EAA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72B31-49A9-D252-E52D-08F4CA937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91E5F-0CF8-E756-67F1-E6F27845A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0BB65-A8DD-4E25-9E8A-B182DADF3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620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4D7C3D-858A-EE38-98A9-44EBBD438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FBC58-34F1-5FC3-A38E-30DAED7B7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48536-102A-2D4A-E02D-A1080039F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8B9552-0226-4D7F-8159-5B0CFE66EAA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78C4C-3C94-259F-BA23-33E53EB408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1004E-D6D2-22AE-0277-445938CEB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0BB65-A8DD-4E25-9E8A-B182DADF3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637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thank-you-signage-2072165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E0A893-3CC0-5909-28D3-4637402D10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>
            <a:normAutofit/>
          </a:bodyPr>
          <a:lstStyle/>
          <a:p>
            <a:pPr algn="r"/>
            <a:r>
              <a:rPr lang="en-US" sz="8000" dirty="0">
                <a:solidFill>
                  <a:srgbClr val="FFFFFF"/>
                </a:solidFill>
              </a:rPr>
              <a:t>LLM Agents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FA737C-8F93-5CFE-EBF0-5B821D5DB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GTech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3242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8D0E6-FD06-A070-912B-58F4F1166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6615C-F5E0-7DBD-41C6-BE9ABCB0F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Introduction to LLM Agents</a:t>
            </a:r>
          </a:p>
          <a:p>
            <a:r>
              <a:rPr lang="en-US" dirty="0"/>
              <a:t>What makes an LLM Agent Different?</a:t>
            </a:r>
          </a:p>
          <a:p>
            <a:r>
              <a:rPr lang="en-US" dirty="0"/>
              <a:t>Core components of an LLM Agent</a:t>
            </a:r>
          </a:p>
          <a:p>
            <a:r>
              <a:rPr lang="en-US" dirty="0"/>
              <a:t>How LLM Agents use tools</a:t>
            </a:r>
          </a:p>
          <a:p>
            <a:r>
              <a:rPr lang="en-US" dirty="0"/>
              <a:t>Amazon Bedrock Action Groups</a:t>
            </a:r>
          </a:p>
          <a:p>
            <a:r>
              <a:rPr lang="en-US" dirty="0"/>
              <a:t>Memory and Planning in LLM Agents</a:t>
            </a:r>
          </a:p>
          <a:p>
            <a:r>
              <a:rPr lang="en-US" dirty="0"/>
              <a:t>Knowledge Bases and Agentic RAG</a:t>
            </a:r>
          </a:p>
          <a:p>
            <a:r>
              <a:rPr lang="en-US" dirty="0"/>
              <a:t>Core Interpreter and Other Agent capabilities</a:t>
            </a:r>
          </a:p>
          <a:p>
            <a:r>
              <a:rPr lang="en-US" dirty="0"/>
              <a:t>Deploying Agents in Amazon Bedrock</a:t>
            </a:r>
          </a:p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780044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683697-62CD-D6FF-0533-9BF1BDF34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Introduction to LLM Agents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03402-9B90-F79C-0F47-A4F0AFAB6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>
            <a:normAutofit/>
          </a:bodyPr>
          <a:lstStyle/>
          <a:p>
            <a:r>
              <a:rPr lang="en-US" sz="1700"/>
              <a:t>LLM stands for Large Language Model</a:t>
            </a:r>
          </a:p>
          <a:p>
            <a:r>
              <a:rPr lang="en-US" sz="1700"/>
              <a:t>Am LLM agent uses a language model to work toward a goal</a:t>
            </a:r>
          </a:p>
          <a:p>
            <a:r>
              <a:rPr lang="en-US" sz="1700"/>
              <a:t>It can choose tools to help answer a request</a:t>
            </a:r>
          </a:p>
          <a:p>
            <a:r>
              <a:rPr lang="en-US" sz="1700"/>
              <a:t>It can break a complex task into smaller steps</a:t>
            </a:r>
          </a:p>
          <a:p>
            <a:r>
              <a:rPr lang="en-US" sz="1700"/>
              <a:t>It can use conversation history and external information</a:t>
            </a:r>
          </a:p>
          <a:p>
            <a:r>
              <a:rPr lang="en-US" sz="1700"/>
              <a:t>Amazon Bedrock supports building LLM agents</a:t>
            </a:r>
          </a:p>
          <a:p>
            <a:pPr marL="0" indent="0">
              <a:buNone/>
            </a:pPr>
            <a:endParaRPr lang="en-US" sz="17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1103ED-A68E-2686-AF46-17D58A01F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716248"/>
            <a:ext cx="5458968" cy="342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826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4999F-2B9E-F0FF-76D2-52D62E307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an LLM Agent Different?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10A48-F81A-30F3-FD2E-9294DA4C6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basic LLM responds using its input and learned knowledge</a:t>
            </a:r>
          </a:p>
          <a:p>
            <a:r>
              <a:rPr lang="en-US" dirty="0"/>
              <a:t>An agent can decide when to use external tools</a:t>
            </a:r>
          </a:p>
          <a:p>
            <a:r>
              <a:rPr lang="en-US" dirty="0"/>
              <a:t>It can retrieve information beyond the initial prompt</a:t>
            </a:r>
          </a:p>
          <a:p>
            <a:r>
              <a:rPr lang="en-US" dirty="0"/>
              <a:t>It can perform a sequence of steps</a:t>
            </a:r>
          </a:p>
          <a:p>
            <a:r>
              <a:rPr lang="en-US" dirty="0"/>
              <a:t>It uses instructions to guide its decisions</a:t>
            </a:r>
          </a:p>
          <a:p>
            <a:r>
              <a:rPr lang="en-US" dirty="0"/>
              <a:t>Its actions should be limited by appropriate permissions and safeguards.</a:t>
            </a:r>
          </a:p>
        </p:txBody>
      </p:sp>
    </p:spTree>
    <p:extLst>
      <p:ext uri="{BB962C8B-B14F-4D97-AF65-F5344CB8AC3E}">
        <p14:creationId xmlns:p14="http://schemas.microsoft.com/office/powerpoint/2010/main" val="42156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45F315-9140-2A9C-3411-EDB96A993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600"/>
              <a:t>Core Components of an LLM Agent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3875E-72D0-3F23-5B19-27156772C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>
            <a:normAutofit/>
          </a:bodyPr>
          <a:lstStyle/>
          <a:p>
            <a:r>
              <a:rPr lang="en-US" sz="1700"/>
              <a:t>LLM: Understands the request and helps choose the next step</a:t>
            </a:r>
          </a:p>
          <a:p>
            <a:r>
              <a:rPr lang="en-US" sz="1700"/>
              <a:t>Memory: Provides relevant conversation history or external data</a:t>
            </a:r>
          </a:p>
          <a:p>
            <a:r>
              <a:rPr lang="en-US" sz="1700"/>
              <a:t>Planning: Helps break a request into smaller tasks</a:t>
            </a:r>
          </a:p>
          <a:p>
            <a:r>
              <a:rPr lang="en-US" sz="1700"/>
              <a:t>Tools: Let the agent retrieve information or perform actions</a:t>
            </a:r>
          </a:p>
          <a:p>
            <a:r>
              <a:rPr lang="en-US" sz="1700"/>
              <a:t>Prompts: Explain how and when tools should be used</a:t>
            </a:r>
          </a:p>
          <a:p>
            <a:r>
              <a:rPr lang="en-US" sz="1700"/>
              <a:t>User request: Defines the task the agent needs to address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3DBEA-D35F-7DE9-5726-9B3D50987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494278"/>
            <a:ext cx="5458968" cy="386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159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490224-DB3C-BDA9-EB53-FEB46AB0F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How LLM Agents Use Tools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90092-F36B-7E4F-33D4-0D5F71368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>
            <a:normAutofit/>
          </a:bodyPr>
          <a:lstStyle/>
          <a:p>
            <a:r>
              <a:rPr lang="en-US" sz="1700"/>
              <a:t>Tools are functions that an agent can call</a:t>
            </a:r>
          </a:p>
          <a:p>
            <a:r>
              <a:rPr lang="en-US" sz="1700"/>
              <a:t>Tools connect the LLM to external systems</a:t>
            </a:r>
          </a:p>
          <a:p>
            <a:r>
              <a:rPr lang="en-US" sz="1700"/>
              <a:t>They can retrieve data aor perform specific tasks</a:t>
            </a:r>
          </a:p>
          <a:p>
            <a:r>
              <a:rPr lang="en-US" sz="1700"/>
              <a:t>In Amazon Bedrock, a tool can be connected through an AWS Lambda function</a:t>
            </a:r>
          </a:p>
          <a:p>
            <a:r>
              <a:rPr lang="en-US" sz="1700"/>
              <a:t>Tool prompts describe when and how to use each tool</a:t>
            </a:r>
          </a:p>
          <a:p>
            <a:r>
              <a:rPr lang="en-US" sz="1700"/>
              <a:t>The tool returns a result that helps the agent respond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F984E3-BCEE-CBBD-9AA3-D2A39CCC7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441" y="640080"/>
            <a:ext cx="5436181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589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B01ED4-1622-5AD7-CDB3-DCDEABAA2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Amazon Bedrock Action Groups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ED856-550D-0215-089A-4025BC30D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Action Groups define actions an agent can use</a:t>
            </a:r>
          </a:p>
          <a:p>
            <a:r>
              <a:rPr lang="en-US" dirty="0"/>
              <a:t>They connect the agent to functions or APIs</a:t>
            </a:r>
          </a:p>
          <a:p>
            <a:r>
              <a:rPr lang="en-US" dirty="0"/>
              <a:t>AWS Lambda can execute the required function</a:t>
            </a:r>
          </a:p>
          <a:p>
            <a:r>
              <a:rPr lang="en-US" dirty="0"/>
              <a:t>Each action needs a name and description</a:t>
            </a:r>
          </a:p>
          <a:p>
            <a:r>
              <a:rPr lang="en-US" dirty="0"/>
              <a:t>Parameters define the information the function expects</a:t>
            </a:r>
          </a:p>
          <a:p>
            <a:r>
              <a:rPr lang="en-US" dirty="0"/>
              <a:t>The agent may ask the user for missing required information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176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272B2-C21D-D680-F0D4-0B652EB0C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Memory and Planning in LLM Agents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C8FD6-DBC4-CA1E-411A-70C88A55F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Memory provides relevant information from previous interactions</a:t>
            </a:r>
          </a:p>
          <a:p>
            <a:r>
              <a:rPr lang="en-US" dirty="0"/>
              <a:t>It may use conversation history and external data stores</a:t>
            </a:r>
          </a:p>
          <a:p>
            <a:r>
              <a:rPr lang="en-US" dirty="0"/>
              <a:t>Planning helps divide a request into smaller tasks</a:t>
            </a:r>
          </a:p>
          <a:p>
            <a:r>
              <a:rPr lang="en-US" dirty="0"/>
              <a:t>The LLM uses instructions to decide the next step</a:t>
            </a:r>
            <a:br>
              <a:rPr lang="en-US" dirty="0"/>
            </a:br>
            <a:r>
              <a:rPr lang="en-US" dirty="0"/>
              <a:t>tools can help complete individual tasks</a:t>
            </a:r>
          </a:p>
          <a:p>
            <a:r>
              <a:rPr lang="en-US" dirty="0"/>
              <a:t>The agent combines the results to prepare a response</a:t>
            </a:r>
          </a:p>
        </p:txBody>
      </p:sp>
    </p:spTree>
    <p:extLst>
      <p:ext uri="{BB962C8B-B14F-4D97-AF65-F5344CB8AC3E}">
        <p14:creationId xmlns:p14="http://schemas.microsoft.com/office/powerpoint/2010/main" val="3683200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436260-8B8B-9386-243F-ED7970B82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Knowledge Bases and Agentic RAG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748F5-2B5B-9463-2947-499B860DF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Knowledge Bases provide access to relevant external information</a:t>
            </a:r>
          </a:p>
          <a:p>
            <a:r>
              <a:rPr lang="en-US" dirty="0"/>
              <a:t>They can help an agent answer questions using supplied documents</a:t>
            </a:r>
          </a:p>
          <a:p>
            <a:r>
              <a:rPr lang="en-US" dirty="0"/>
              <a:t>The agent’s prompt guides when to use a Knowledge Base</a:t>
            </a:r>
          </a:p>
          <a:p>
            <a:r>
              <a:rPr lang="en-US" dirty="0"/>
              <a:t>RAG retrieves information for the LLM</a:t>
            </a:r>
          </a:p>
          <a:p>
            <a:r>
              <a:rPr lang="en-US" dirty="0"/>
              <a:t>Agentic RAG lets an agent use retrieval as a tool</a:t>
            </a:r>
          </a:p>
          <a:p>
            <a:r>
              <a:rPr lang="en-US" dirty="0"/>
              <a:t>Retrieved information can help ground the final answer</a:t>
            </a:r>
          </a:p>
        </p:txBody>
      </p:sp>
    </p:spTree>
    <p:extLst>
      <p:ext uri="{BB962C8B-B14F-4D97-AF65-F5344CB8AC3E}">
        <p14:creationId xmlns:p14="http://schemas.microsoft.com/office/powerpoint/2010/main" val="3615357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03F37D-A5C2-860E-9945-BBE70DA9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Code Interpreter and Other Agent Capabilities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E69F1-90D0-AD67-9085-267777BE7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en-US" sz="2000"/>
              <a:t>Agents can use different tools for different tasks</a:t>
            </a:r>
          </a:p>
          <a:p>
            <a:r>
              <a:rPr lang="en-US" sz="2000"/>
              <a:t>A Knowledge Base can retrieve relevant documents</a:t>
            </a:r>
          </a:p>
          <a:p>
            <a:r>
              <a:rPr lang="en-US" sz="2000"/>
              <a:t>Lambda functions can connect to APIs and services</a:t>
            </a:r>
          </a:p>
          <a:p>
            <a:r>
              <a:rPr lang="en-US" sz="2000"/>
              <a:t>Other tools may access external information or Python modules</a:t>
            </a:r>
          </a:p>
          <a:p>
            <a:r>
              <a:rPr lang="en-US" sz="2000"/>
              <a:t>An optional Code Interpreter can execute code for supported tasks</a:t>
            </a:r>
          </a:p>
          <a:p>
            <a:r>
              <a:rPr lang="en-US" sz="2000"/>
              <a:t>Tool choice depends on the user’s request and agent instructions</a:t>
            </a:r>
          </a:p>
        </p:txBody>
      </p:sp>
    </p:spTree>
    <p:extLst>
      <p:ext uri="{BB962C8B-B14F-4D97-AF65-F5344CB8AC3E}">
        <p14:creationId xmlns:p14="http://schemas.microsoft.com/office/powerpoint/2010/main" val="2402277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2C4F84-4ED7-6BAC-E8D5-26309D249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Deploying Agents in amazon Bedrock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46F58-8FCC-C006-3527-867A9C84B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en-US" sz="2000"/>
              <a:t>Configure the agent, its instructions, and available tools</a:t>
            </a:r>
          </a:p>
          <a:p>
            <a:r>
              <a:rPr lang="en-US" sz="2000"/>
              <a:t>Connect Action Groups and Knowledge Bases as needed</a:t>
            </a:r>
          </a:p>
          <a:p>
            <a:r>
              <a:rPr lang="en-US" sz="2000"/>
              <a:t>Test the agent before making it available to users </a:t>
            </a:r>
          </a:p>
          <a:p>
            <a:r>
              <a:rPr lang="en-US" sz="2000"/>
              <a:t>Create an agent alias for deployed version</a:t>
            </a:r>
          </a:p>
          <a:p>
            <a:r>
              <a:rPr lang="en-US" sz="2000"/>
              <a:t>Applications can call the agent using the InvokeAgent operation</a:t>
            </a:r>
          </a:p>
          <a:p>
            <a:r>
              <a:rPr lang="en-US" sz="2000"/>
              <a:t>Monitor usage, permissions, performance and cost</a:t>
            </a:r>
          </a:p>
        </p:txBody>
      </p:sp>
    </p:spTree>
    <p:extLst>
      <p:ext uri="{BB962C8B-B14F-4D97-AF65-F5344CB8AC3E}">
        <p14:creationId xmlns:p14="http://schemas.microsoft.com/office/powerpoint/2010/main" val="1004318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026FF8-7CC1-47EF-0A3C-91DFC67CD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Conclusion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59396-F9B2-6FE2-BBCE-182836F2C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en-US" sz="2000"/>
              <a:t>LLM agents use language models to work toward specific goals.</a:t>
            </a:r>
          </a:p>
          <a:p>
            <a:r>
              <a:rPr lang="en-US" sz="2000"/>
              <a:t>Memory and planning help manage multi-step tasks.</a:t>
            </a:r>
          </a:p>
          <a:p>
            <a:r>
              <a:rPr lang="en-US" sz="2000"/>
              <a:t>Tools connect agents to external data, APIs, and services.</a:t>
            </a:r>
          </a:p>
          <a:p>
            <a:r>
              <a:rPr lang="en-US" sz="2000"/>
              <a:t>Amazon Bedrock supports agents through Action Groups and Knowledge Bases.</a:t>
            </a:r>
          </a:p>
          <a:p>
            <a:r>
              <a:rPr lang="en-US" sz="2000"/>
              <a:t>Effective agents combine clear instructions, useful tools, and human oversight.</a:t>
            </a:r>
          </a:p>
        </p:txBody>
      </p:sp>
    </p:spTree>
    <p:extLst>
      <p:ext uri="{BB962C8B-B14F-4D97-AF65-F5344CB8AC3E}">
        <p14:creationId xmlns:p14="http://schemas.microsoft.com/office/powerpoint/2010/main" val="1479715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E11C4A-A147-3F27-FA94-9748374CD0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333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627</Words>
  <Application>Microsoft Office PowerPoint</Application>
  <PresentationFormat>Widescreen</PresentationFormat>
  <Paragraphs>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LLM Agents</vt:lpstr>
      <vt:lpstr>Content</vt:lpstr>
      <vt:lpstr>Introduction to LLM Agents</vt:lpstr>
      <vt:lpstr>What makes an LLM Agent Different?</vt:lpstr>
      <vt:lpstr>Core Components of an LLM Agent</vt:lpstr>
      <vt:lpstr>How LLM Agents Use Tools</vt:lpstr>
      <vt:lpstr>Amazon Bedrock Action Groups</vt:lpstr>
      <vt:lpstr>Memory and Planning in LLM Agents</vt:lpstr>
      <vt:lpstr>Knowledge Bases and Agentic RAG</vt:lpstr>
      <vt:lpstr>Code Interpreter and Other Agent Capabilities</vt:lpstr>
      <vt:lpstr>Deploying Agents in amazon Bedrock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 Kumar Giri</dc:creator>
  <cp:lastModifiedBy>Raj Kumar Giri</cp:lastModifiedBy>
  <cp:revision>2</cp:revision>
  <dcterms:created xsi:type="dcterms:W3CDTF">2026-10-12T01:23:34Z</dcterms:created>
  <dcterms:modified xsi:type="dcterms:W3CDTF">2026-10-13T19:39:09Z</dcterms:modified>
</cp:coreProperties>
</file>